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703320" cy="6858000"/>
          </a:xfrm>
          <a:prstGeom prst="rect">
            <a:avLst/>
          </a:prstGeom>
          <a:solidFill>
            <a:srgbClr val="113653"/>
          </a:solidFill>
          <a:ln>
            <a:solidFill>
              <a:srgbClr val="113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27432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1">
                <a:solidFill>
                  <a:srgbClr val="80D7D4"/>
                </a:solidFill>
                <a:latin typeface="Aptos"/>
              </a:defRPr>
            </a:pPr>
            <a:r>
              <a:t>SUSTAINABLE BEAUTY ×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2834640" cy="11430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REFILL</a:t>
            </a:r>
            <a:br/>
            <a:r>
              <a:t>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651760"/>
            <a:ext cx="2697480" cy="9601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Aptos"/>
              </a:defRPr>
            </a:pPr>
            <a:r>
              <a:t>Make sustainable beauty a premium, rewarding habit.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983480"/>
            <a:ext cx="2743200" cy="731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600" b="1">
                <a:solidFill>
                  <a:srgbClr val="80D7D4"/>
                </a:solidFill>
                <a:latin typeface="Aptos"/>
              </a:defRPr>
            </a:pPr>
            <a:r>
              <a:t>Refill Your Beauty.</a:t>
            </a:r>
            <a:br/>
            <a:r>
              <a:t>Own Your Impact.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658368"/>
            <a:ext cx="70408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1">
                <a:solidFill>
                  <a:srgbClr val="1C7380"/>
                </a:solidFill>
                <a:latin typeface="Aptos"/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1024128"/>
            <a:ext cx="7223760" cy="9144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200" b="1">
                <a:solidFill>
                  <a:srgbClr val="113653"/>
                </a:solidFill>
                <a:latin typeface="Aptos"/>
              </a:defRPr>
            </a:pPr>
            <a:r>
              <a:t>Reduce packaging impact without compromising product protection, convenience or premium appeal.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2697480"/>
            <a:ext cx="2148840" cy="2331720"/>
          </a:xfrm>
          <a:prstGeom prst="roundRect">
            <a:avLst/>
          </a:prstGeom>
          <a:solidFill>
            <a:srgbClr val="EFF6F8"/>
          </a:solidFill>
          <a:ln>
            <a:solidFill>
              <a:srgbClr val="EF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0" y="2880360"/>
            <a:ext cx="18288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1">
                <a:solidFill>
                  <a:srgbClr val="1C7380"/>
                </a:solidFill>
                <a:latin typeface="Aptos"/>
              </a:defRPr>
            </a:pPr>
            <a:r>
              <a:rPr sz="1200" dirty="0"/>
              <a:t>PACKAGING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218688"/>
            <a:ext cx="1828800" cy="28315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400" b="1">
                <a:solidFill>
                  <a:srgbClr val="113653"/>
                </a:solidFill>
                <a:latin typeface="Aptos"/>
              </a:defRPr>
            </a:pPr>
            <a:r>
              <a:rPr sz="1600" dirty="0"/>
              <a:t>Choose by product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822191"/>
            <a:ext cx="1828800" cy="88331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0">
                <a:solidFill>
                  <a:srgbClr val="263444"/>
                </a:solidFill>
                <a:latin typeface="Aptos"/>
              </a:defRPr>
            </a:pPr>
            <a:r>
              <a:rPr sz="1100" dirty="0"/>
              <a:t>Evaluate recycled-content packs, refill formats and right-sized cartons only where technical and lifecycle evidence supports them.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47688" y="2697480"/>
            <a:ext cx="2148840" cy="2331720"/>
          </a:xfrm>
          <a:prstGeom prst="roundRect">
            <a:avLst/>
          </a:prstGeom>
          <a:solidFill>
            <a:srgbClr val="EFF6F8"/>
          </a:solidFill>
          <a:ln>
            <a:solidFill>
              <a:srgbClr val="EF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84848" y="2880360"/>
            <a:ext cx="18288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1">
                <a:solidFill>
                  <a:srgbClr val="1C7380"/>
                </a:solidFill>
                <a:latin typeface="Aptos"/>
              </a:defRPr>
            </a:pPr>
            <a:r>
              <a:rPr sz="1200" dirty="0"/>
              <a:t>EXPERIENCE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3218688"/>
            <a:ext cx="182880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400" b="1">
                <a:solidFill>
                  <a:srgbClr val="113653"/>
                </a:solidFill>
                <a:latin typeface="Aptos"/>
              </a:defRPr>
            </a:pPr>
            <a:r>
              <a:rPr dirty="0"/>
              <a:t>Make refilling easy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848" y="3822191"/>
            <a:ext cx="1828800" cy="8987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0">
                <a:solidFill>
                  <a:srgbClr val="263444"/>
                </a:solidFill>
                <a:latin typeface="Aptos"/>
              </a:defRPr>
            </a:pPr>
            <a:r>
              <a:rPr sz="1400" dirty="0"/>
              <a:t>Clear compatibility, convenient access, simple instructions and a transparent reward</a:t>
            </a:r>
            <a:r>
              <a:rPr dirty="0"/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43416" y="2697480"/>
            <a:ext cx="2148840" cy="2331720"/>
          </a:xfrm>
          <a:prstGeom prst="roundRect">
            <a:avLst/>
          </a:prstGeom>
          <a:solidFill>
            <a:srgbClr val="EFF6F8"/>
          </a:solidFill>
          <a:ln>
            <a:solidFill>
              <a:srgbClr val="EF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80576" y="2880360"/>
            <a:ext cx="18288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1">
                <a:solidFill>
                  <a:srgbClr val="1C7380"/>
                </a:solidFill>
                <a:latin typeface="Aptos"/>
              </a:defRPr>
            </a:pPr>
            <a:r>
              <a:t>GROWTH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0576" y="3218688"/>
            <a:ext cx="1828800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400" b="1">
                <a:solidFill>
                  <a:srgbClr val="113653"/>
                </a:solidFill>
                <a:latin typeface="Aptos"/>
              </a:defRPr>
            </a:pPr>
            <a:r>
              <a:rPr sz="1400" dirty="0"/>
              <a:t>Build a repeat habit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0576" y="3822191"/>
            <a:ext cx="1828800" cy="111415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0">
                <a:solidFill>
                  <a:srgbClr val="263444"/>
                </a:solidFill>
                <a:latin typeface="Aptos"/>
              </a:defRPr>
            </a:pPr>
            <a:r>
              <a:rPr sz="1400" dirty="0"/>
              <a:t>QR impact feedback and optional social sharing; test whether they increase refill and repeat purchase</a:t>
            </a:r>
            <a:r>
              <a:rPr dirty="0"/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5394960"/>
            <a:ext cx="7040880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1">
                <a:solidFill>
                  <a:srgbClr val="113653"/>
                </a:solidFill>
                <a:latin typeface="Aptos"/>
              </a:defRPr>
            </a:pPr>
            <a:r>
              <a:rPr sz="1400" dirty="0"/>
              <a:t>Design principle: product safety first; prove impact and viable economics before scale</a:t>
            </a:r>
            <a:r>
              <a:rPr dirty="0"/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6013097"/>
            <a:ext cx="7040880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800" b="0">
                <a:solidFill>
                  <a:srgbClr val="5B6C7A"/>
                </a:solidFill>
                <a:latin typeface="Aptos"/>
              </a:defRPr>
            </a:pPr>
            <a:r>
              <a:rPr sz="1400" b="1" dirty="0"/>
              <a:t>Corporate context: L’Oréal Climate Transition Plan, Sept 2026; proposal is independent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1">
                <a:solidFill>
                  <a:srgbClr val="1C7380"/>
                </a:solidFill>
                <a:latin typeface="Aptos"/>
              </a:defRPr>
            </a:pPr>
            <a:r>
              <a:t>02 • CUSTOMER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600" b="1">
                <a:solidFill>
                  <a:srgbClr val="113653"/>
                </a:solidFill>
                <a:latin typeface="Aptos"/>
              </a:defRPr>
            </a:pPr>
            <a:r>
              <a:rPr dirty="0"/>
              <a:t>Turn a refill into a repeatable customer habit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881360" cy="28315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0">
                <a:solidFill>
                  <a:srgbClr val="5B6C7A"/>
                </a:solidFill>
                <a:latin typeface="Aptos"/>
              </a:defRPr>
            </a:pPr>
            <a:r>
              <a:rPr sz="1600" b="1" dirty="0"/>
              <a:t>A simple loop connects product design, convenience, rewards and opt-in advocacy</a:t>
            </a:r>
            <a:r>
              <a:rPr dirty="0"/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92240"/>
            <a:ext cx="10972800" cy="18288"/>
          </a:xfrm>
          <a:prstGeom prst="rect">
            <a:avLst/>
          </a:prstGeom>
          <a:solidFill>
            <a:srgbClr val="1C7380"/>
          </a:solidFill>
          <a:ln>
            <a:solidFill>
              <a:srgbClr val="1C7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1874519"/>
            <a:ext cx="1965960" cy="2212848"/>
          </a:xfrm>
          <a:prstGeom prst="roundRect">
            <a:avLst/>
          </a:prstGeom>
          <a:solidFill>
            <a:srgbClr val="EFF6F8"/>
          </a:solidFill>
          <a:ln>
            <a:solidFill>
              <a:srgbClr val="EF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95528" y="2048256"/>
            <a:ext cx="411480" cy="411480"/>
          </a:xfrm>
          <a:prstGeom prst="roundRect">
            <a:avLst/>
          </a:prstGeom>
          <a:solidFill>
            <a:srgbClr val="1C7380"/>
          </a:solidFill>
          <a:ln>
            <a:solidFill>
              <a:srgbClr val="1C7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2112264"/>
            <a:ext cx="41148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615184"/>
            <a:ext cx="1691640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1">
                <a:solidFill>
                  <a:srgbClr val="113653"/>
                </a:solidFill>
                <a:latin typeface="Aptos"/>
              </a:defRPr>
            </a:pPr>
            <a:r>
              <a:rPr sz="1400" dirty="0"/>
              <a:t>CHOOSE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081528"/>
            <a:ext cx="1691640" cy="59093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0">
                <a:solidFill>
                  <a:srgbClr val="263444"/>
                </a:solidFill>
                <a:latin typeface="Aptos"/>
              </a:defRPr>
            </a:pPr>
            <a:r>
              <a:rPr sz="1200" dirty="0"/>
              <a:t>See compatible products, clear refill instructions and price</a:t>
            </a:r>
            <a:r>
              <a:rPr dirty="0"/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96896" y="2743200"/>
            <a:ext cx="2743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2500" b="1">
                <a:solidFill>
                  <a:srgbClr val="1C738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1874519"/>
            <a:ext cx="1965960" cy="2212848"/>
          </a:xfrm>
          <a:prstGeom prst="roundRect">
            <a:avLst/>
          </a:prstGeom>
          <a:solidFill>
            <a:srgbClr val="EFF6F8"/>
          </a:solidFill>
          <a:ln>
            <a:solidFill>
              <a:srgbClr val="EF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063240" y="2048256"/>
            <a:ext cx="411480" cy="411480"/>
          </a:xfrm>
          <a:prstGeom prst="roundRect">
            <a:avLst/>
          </a:prstGeom>
          <a:solidFill>
            <a:srgbClr val="1C7380"/>
          </a:solidFill>
          <a:ln>
            <a:solidFill>
              <a:srgbClr val="1C7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63240" y="2112264"/>
            <a:ext cx="41148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2615184"/>
            <a:ext cx="1691640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1">
                <a:solidFill>
                  <a:srgbClr val="113653"/>
                </a:solidFill>
                <a:latin typeface="Aptos"/>
              </a:defRPr>
            </a:pPr>
            <a:r>
              <a:rPr sz="1400" dirty="0"/>
              <a:t>REFILL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081528"/>
            <a:ext cx="1691640" cy="59093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0">
                <a:solidFill>
                  <a:srgbClr val="263444"/>
                </a:solidFill>
                <a:latin typeface="Aptos"/>
              </a:defRPr>
            </a:pPr>
            <a:r>
              <a:rPr sz="1200" dirty="0"/>
              <a:t>Use an accessible, validated refill route online or in-store.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64608" y="2743200"/>
            <a:ext cx="2743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2500" b="1">
                <a:solidFill>
                  <a:srgbClr val="1C738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93792" y="1874519"/>
            <a:ext cx="1965960" cy="2212848"/>
          </a:xfrm>
          <a:prstGeom prst="roundRect">
            <a:avLst/>
          </a:prstGeom>
          <a:solidFill>
            <a:srgbClr val="EFF6F8"/>
          </a:solidFill>
          <a:ln>
            <a:solidFill>
              <a:srgbClr val="EF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330952" y="2048256"/>
            <a:ext cx="411480" cy="411480"/>
          </a:xfrm>
          <a:prstGeom prst="roundRect">
            <a:avLst/>
          </a:prstGeom>
          <a:solidFill>
            <a:srgbClr val="1C7380"/>
          </a:solidFill>
          <a:ln>
            <a:solidFill>
              <a:srgbClr val="1C7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30952" y="2112264"/>
            <a:ext cx="41148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0952" y="2615184"/>
            <a:ext cx="1691640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1">
                <a:solidFill>
                  <a:srgbClr val="113653"/>
                </a:solidFill>
                <a:latin typeface="Aptos"/>
              </a:defRPr>
            </a:pPr>
            <a:r>
              <a:rPr sz="1400" dirty="0"/>
              <a:t>REWARD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0952" y="3081528"/>
            <a:ext cx="1691640" cy="59093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0">
                <a:solidFill>
                  <a:srgbClr val="263444"/>
                </a:solidFill>
                <a:latin typeface="Aptos"/>
              </a:defRPr>
            </a:pPr>
            <a:r>
              <a:rPr sz="1200" dirty="0"/>
              <a:t>Earn a transparent benefit such as points or a modest discount</a:t>
            </a:r>
            <a:r>
              <a:rPr dirty="0"/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2743200"/>
            <a:ext cx="2743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2500" b="1">
                <a:solidFill>
                  <a:srgbClr val="1C738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61504" y="1874519"/>
            <a:ext cx="1965960" cy="2212848"/>
          </a:xfrm>
          <a:prstGeom prst="roundRect">
            <a:avLst/>
          </a:prstGeom>
          <a:solidFill>
            <a:srgbClr val="EFF6F8"/>
          </a:solidFill>
          <a:ln>
            <a:solidFill>
              <a:srgbClr val="EF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598664" y="2048256"/>
            <a:ext cx="411480" cy="411480"/>
          </a:xfrm>
          <a:prstGeom prst="roundRect">
            <a:avLst/>
          </a:prstGeom>
          <a:solidFill>
            <a:srgbClr val="1C7380"/>
          </a:solidFill>
          <a:ln>
            <a:solidFill>
              <a:srgbClr val="1C7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98664" y="2112264"/>
            <a:ext cx="41148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98664" y="2615184"/>
            <a:ext cx="1691640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1">
                <a:solidFill>
                  <a:srgbClr val="113653"/>
                </a:solidFill>
                <a:latin typeface="Aptos"/>
              </a:defRPr>
            </a:pPr>
            <a:r>
              <a:rPr sz="1400" dirty="0"/>
              <a:t>SEE IMPACT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98664" y="3081528"/>
            <a:ext cx="1691640" cy="77559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0">
                <a:solidFill>
                  <a:srgbClr val="263444"/>
                </a:solidFill>
                <a:latin typeface="Aptos"/>
              </a:defRPr>
            </a:pPr>
            <a:r>
              <a:rPr sz="1200" dirty="0"/>
              <a:t>QR page records refill events and explains packaging-avoided calculations.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2743200"/>
            <a:ext cx="2743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2500" b="1">
                <a:solidFill>
                  <a:srgbClr val="1C7380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29216" y="1874519"/>
            <a:ext cx="1965960" cy="2212848"/>
          </a:xfrm>
          <a:prstGeom prst="roundRect">
            <a:avLst/>
          </a:prstGeom>
          <a:solidFill>
            <a:srgbClr val="EFF6F8"/>
          </a:solidFill>
          <a:ln>
            <a:solidFill>
              <a:srgbClr val="EF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866376" y="2048256"/>
            <a:ext cx="411480" cy="411480"/>
          </a:xfrm>
          <a:prstGeom prst="roundRect">
            <a:avLst/>
          </a:prstGeom>
          <a:solidFill>
            <a:srgbClr val="1C7380"/>
          </a:solidFill>
          <a:ln>
            <a:solidFill>
              <a:srgbClr val="1C7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866376" y="2112264"/>
            <a:ext cx="411480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66376" y="2615184"/>
            <a:ext cx="1691640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1">
                <a:solidFill>
                  <a:srgbClr val="113653"/>
                </a:solidFill>
                <a:latin typeface="Aptos"/>
              </a:defRPr>
            </a:pPr>
            <a:r>
              <a:rPr sz="1400" dirty="0"/>
              <a:t>SHARE (OPTIONAL</a:t>
            </a:r>
            <a:r>
              <a:rPr dirty="0"/>
              <a:t>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66376" y="3081528"/>
            <a:ext cx="1691640" cy="59093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0">
                <a:solidFill>
                  <a:srgbClr val="263444"/>
                </a:solidFill>
                <a:latin typeface="Aptos"/>
              </a:defRPr>
            </a:pPr>
            <a:r>
              <a:rPr sz="1200" dirty="0"/>
              <a:t>Opt-in impact card or community challenge; no forced sharing</a:t>
            </a:r>
            <a:r>
              <a:rPr dirty="0"/>
              <a:t>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4526280"/>
            <a:ext cx="10927080" cy="1234440"/>
          </a:xfrm>
          <a:prstGeom prst="roundRect">
            <a:avLst/>
          </a:prstGeom>
          <a:solidFill>
            <a:srgbClr val="113653"/>
          </a:solidFill>
          <a:ln>
            <a:solidFill>
              <a:srgbClr val="113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" y="4736592"/>
            <a:ext cx="2834640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1">
                <a:solidFill>
                  <a:srgbClr val="80D7D4"/>
                </a:solidFill>
                <a:latin typeface="Aptos"/>
              </a:defRPr>
            </a:pPr>
            <a:r>
              <a:rPr sz="1400" dirty="0"/>
              <a:t>BEHAVIOURAL LEVERS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074920"/>
            <a:ext cx="3383280" cy="4678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rPr sz="1400" dirty="0"/>
              <a:t>Convenience • Rewards • Social proof • Feedback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4736592"/>
            <a:ext cx="6629400" cy="4678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Aptos"/>
              </a:defRPr>
            </a:pPr>
            <a:r>
              <a:rPr sz="1400" dirty="0"/>
              <a:t>Show only verified impact and customer stories shared with consent. A refill is not automatically greener: measure impact per use and actual reuse.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007608"/>
            <a:ext cx="10789920" cy="406265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1">
                <a:solidFill>
                  <a:srgbClr val="1C7380"/>
                </a:solidFill>
                <a:latin typeface="Aptos"/>
              </a:defRPr>
            </a:pPr>
            <a:r>
              <a:rPr lang="en-US" sz="1400" dirty="0">
                <a:solidFill>
                  <a:schemeClr val="tx2">
                    <a:lumMod val="75000"/>
                  </a:schemeClr>
                </a:solidFill>
              </a:rPr>
              <a:t>Independent portfolio concept • Not an official L’Oréal initiative</a:t>
            </a:r>
          </a:p>
          <a:p>
            <a:pPr>
              <a:defRPr sz="1000" b="1">
                <a:solidFill>
                  <a:srgbClr val="1C7380"/>
                </a:solidFill>
                <a:latin typeface="Aptos"/>
              </a:defRPr>
            </a:pP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6535"/>
            <a:ext cx="109728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000" b="1">
                <a:solidFill>
                  <a:srgbClr val="1C7380"/>
                </a:solidFill>
                <a:latin typeface="Aptos"/>
              </a:defRPr>
            </a:pPr>
            <a:r>
              <a:t>03 • PILOT &amp; MEASUREMENT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600" b="1">
                <a:solidFill>
                  <a:srgbClr val="113653"/>
                </a:solidFill>
                <a:latin typeface="Aptos"/>
              </a:defRPr>
            </a:pPr>
            <a:r>
              <a:t>Test the impact before scaling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881360" cy="22159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0">
                <a:solidFill>
                  <a:srgbClr val="5B6C7A"/>
                </a:solidFill>
                <a:latin typeface="Aptos"/>
              </a:defRPr>
            </a:pPr>
            <a:r>
              <a:rPr sz="1200" dirty="0">
                <a:solidFill>
                  <a:schemeClr val="tx2">
                    <a:lumMod val="75000"/>
                  </a:schemeClr>
                </a:solidFill>
              </a:rPr>
              <a:t>Illustrative hypotheses only—not measured results or guaranteed forecasts.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92240"/>
            <a:ext cx="10972800" cy="18288"/>
          </a:xfrm>
          <a:prstGeom prst="rect">
            <a:avLst/>
          </a:prstGeom>
          <a:solidFill>
            <a:srgbClr val="1C7380"/>
          </a:solidFill>
          <a:ln>
            <a:solidFill>
              <a:srgbClr val="1C7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56248"/>
            <a:ext cx="9875520" cy="22159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800" b="0">
                <a:solidFill>
                  <a:srgbClr val="5B6C7A"/>
                </a:solidFill>
                <a:latin typeface="Aptos"/>
              </a:defRPr>
            </a:pPr>
            <a:r>
              <a:rPr sz="1200" dirty="0"/>
              <a:t>Independent portfolio concept • Not an official L’Oréal initiative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64208"/>
            <a:ext cx="46634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1">
                <a:solidFill>
                  <a:srgbClr val="1C7380"/>
                </a:solidFill>
                <a:latin typeface="Aptos"/>
              </a:defRPr>
            </a:pPr>
            <a:r>
              <a:t>PILOT PLAN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2011680"/>
            <a:ext cx="109728" cy="594360"/>
          </a:xfrm>
          <a:prstGeom prst="rect">
            <a:avLst/>
          </a:prstGeom>
          <a:solidFill>
            <a:srgbClr val="1C7380"/>
          </a:solidFill>
          <a:ln>
            <a:solidFill>
              <a:srgbClr val="1C7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011680"/>
            <a:ext cx="1143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1">
                <a:solidFill>
                  <a:srgbClr val="113653"/>
                </a:solidFill>
                <a:latin typeface="Aptos"/>
              </a:defRPr>
            </a:pPr>
            <a:r>
              <a:t>1  Validate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011680"/>
            <a:ext cx="3154680" cy="175433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0">
                <a:solidFill>
                  <a:srgbClr val="263444"/>
                </a:solidFill>
                <a:latin typeface="Aptos"/>
              </a:defRPr>
            </a:pPr>
            <a:r>
              <a:rPr sz="900" dirty="0"/>
              <a:t>Compatibility, stability, leakage, dispensing and shelf-life checks</a:t>
            </a:r>
            <a:r>
              <a:rPr dirty="0"/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2816352"/>
            <a:ext cx="109728" cy="594360"/>
          </a:xfrm>
          <a:prstGeom prst="rect">
            <a:avLst/>
          </a:prstGeom>
          <a:solidFill>
            <a:srgbClr val="1C7380"/>
          </a:solidFill>
          <a:ln>
            <a:solidFill>
              <a:srgbClr val="1C7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816352"/>
            <a:ext cx="1143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1">
                <a:solidFill>
                  <a:srgbClr val="113653"/>
                </a:solidFill>
                <a:latin typeface="Aptos"/>
              </a:defRPr>
            </a:pPr>
            <a:r>
              <a:t>2  Prototype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2816352"/>
            <a:ext cx="3154680" cy="5303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0">
                <a:solidFill>
                  <a:srgbClr val="263444"/>
                </a:solidFill>
                <a:latin typeface="Aptos"/>
              </a:defRPr>
            </a:pPr>
            <a:r>
              <a:t>Test usability, premium design, instructions and price comprehension.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3621024"/>
            <a:ext cx="109728" cy="594360"/>
          </a:xfrm>
          <a:prstGeom prst="rect">
            <a:avLst/>
          </a:prstGeom>
          <a:solidFill>
            <a:srgbClr val="1C7380"/>
          </a:solidFill>
          <a:ln>
            <a:solidFill>
              <a:srgbClr val="1C7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621024"/>
            <a:ext cx="1143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1">
                <a:solidFill>
                  <a:srgbClr val="113653"/>
                </a:solidFill>
                <a:latin typeface="Aptos"/>
              </a:defRPr>
            </a:pPr>
            <a:r>
              <a:t>3  Compare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3621024"/>
            <a:ext cx="3154680" cy="5303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0">
                <a:solidFill>
                  <a:srgbClr val="263444"/>
                </a:solidFill>
                <a:latin typeface="Aptos"/>
              </a:defRPr>
            </a:pPr>
            <a:r>
              <a:t>Treatment vs control/baseline; track customer outcomes and costs.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4425696"/>
            <a:ext cx="109728" cy="594360"/>
          </a:xfrm>
          <a:prstGeom prst="rect">
            <a:avLst/>
          </a:prstGeom>
          <a:solidFill>
            <a:srgbClr val="1C7380"/>
          </a:solidFill>
          <a:ln>
            <a:solidFill>
              <a:srgbClr val="1C7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4425696"/>
            <a:ext cx="11430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1">
                <a:solidFill>
                  <a:srgbClr val="113653"/>
                </a:solidFill>
                <a:latin typeface="Aptos"/>
              </a:defRPr>
            </a:pPr>
            <a:r>
              <a:t>4  Decide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4425696"/>
            <a:ext cx="3154680" cy="5303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0">
                <a:solidFill>
                  <a:srgbClr val="263444"/>
                </a:solidFill>
                <a:latin typeface="Aptos"/>
              </a:defRPr>
            </a:pPr>
            <a:r>
              <a:t>Scale only if quality, lifecycle impact and margin meet thresholds.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23560" y="1691640"/>
            <a:ext cx="5715000" cy="3611880"/>
          </a:xfrm>
          <a:prstGeom prst="roundRect">
            <a:avLst/>
          </a:prstGeom>
          <a:solidFill>
            <a:srgbClr val="EFF6F8"/>
          </a:solidFill>
          <a:ln>
            <a:solidFill>
              <a:srgbClr val="EF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25312" y="1938528"/>
            <a:ext cx="50292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1">
                <a:solidFill>
                  <a:srgbClr val="1C7380"/>
                </a:solidFill>
                <a:latin typeface="Aptos"/>
              </a:defRPr>
            </a:pPr>
            <a:r>
              <a:t>HYPOTHESES TO 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404872"/>
            <a:ext cx="1874519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400" b="1">
                <a:solidFill>
                  <a:srgbClr val="113653"/>
                </a:solidFill>
                <a:latin typeface="Aptos"/>
              </a:defRPr>
            </a:pPr>
            <a:r>
              <a:t>+10% relative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423160"/>
            <a:ext cx="306324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0">
                <a:solidFill>
                  <a:srgbClr val="263444"/>
                </a:solidFill>
                <a:latin typeface="Aptos"/>
              </a:defRPr>
            </a:pPr>
            <a:r>
              <a:t>refill adoption vs control/baseline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3044952"/>
            <a:ext cx="1874519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400" b="1">
                <a:solidFill>
                  <a:srgbClr val="113653"/>
                </a:solidFill>
                <a:latin typeface="Aptos"/>
              </a:defRPr>
            </a:pPr>
            <a:r>
              <a:t>+5% relative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3063240"/>
            <a:ext cx="306324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0">
                <a:solidFill>
                  <a:srgbClr val="263444"/>
                </a:solidFill>
                <a:latin typeface="Aptos"/>
              </a:defRPr>
            </a:pPr>
            <a:r>
              <a:t>repeat purchase vs control/baseline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3685031"/>
            <a:ext cx="1874519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1">
                <a:solidFill>
                  <a:srgbClr val="113653"/>
                </a:solidFill>
                <a:latin typeface="Aptos"/>
              </a:defRPr>
            </a:pPr>
            <a:r>
              <a:t>No material increase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3703319"/>
            <a:ext cx="306324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0">
                <a:solidFill>
                  <a:srgbClr val="263444"/>
                </a:solidFill>
                <a:latin typeface="Aptos"/>
              </a:defRPr>
            </a:pPr>
            <a:r>
              <a:t>in leakage, breakage or product complaints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4325112"/>
            <a:ext cx="1874519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1100" b="1">
                <a:solidFill>
                  <a:srgbClr val="113653"/>
                </a:solidFill>
                <a:latin typeface="Aptos"/>
              </a:defRPr>
            </a:pPr>
            <a:r>
              <a:t>Lower impact per use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343399"/>
            <a:ext cx="306324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0">
                <a:solidFill>
                  <a:srgbClr val="263444"/>
                </a:solidFill>
                <a:latin typeface="Aptos"/>
              </a:defRPr>
            </a:pPr>
            <a:r>
              <a:t>shown through lifecycle comparison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4937760"/>
            <a:ext cx="493776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1">
                <a:solidFill>
                  <a:srgbClr val="5B6C7A"/>
                </a:solidFill>
                <a:latin typeface="Aptos"/>
              </a:defRPr>
            </a:pPr>
            <a:r>
              <a:t>Example: 20% baseline × 1.10 = 22%, not 30%.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532120"/>
            <a:ext cx="10607040" cy="658368"/>
          </a:xfrm>
          <a:prstGeom prst="roundRect">
            <a:avLst/>
          </a:prstGeom>
          <a:solidFill>
            <a:srgbClr val="113653"/>
          </a:solidFill>
          <a:ln>
            <a:solidFill>
              <a:srgbClr val="113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5705856"/>
            <a:ext cx="101498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ptos"/>
              </a:defRPr>
            </a:pPr>
            <a:r>
              <a:t>SCORECARD  •  Impact per use  •  Adoption / repeat refill  •  Satisfaction  •  Quality incidents  •  Contribution margin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6281928"/>
            <a:ext cx="10515600" cy="20621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800" b="0">
                <a:solidFill>
                  <a:srgbClr val="5B6C7A"/>
                </a:solidFill>
                <a:latin typeface="Aptos"/>
              </a:defRPr>
            </a:pPr>
            <a:r>
              <a:rPr sz="1100" dirty="0">
                <a:solidFill>
                  <a:schemeClr val="tx2">
                    <a:lumMod val="75000"/>
                  </a:schemeClr>
                </a:solidFill>
              </a:rPr>
              <a:t>Example price test only: ₹300 standard vs ₹240 refill = ₹60 / 20% customer saving; margin not assessed.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457</Words>
  <Application>Microsoft Office PowerPoint</Application>
  <PresentationFormat>Widescreen</PresentationFormat>
  <Paragraphs>68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mohit dhiman</cp:lastModifiedBy>
  <cp:revision>2</cp:revision>
  <dcterms:created xsi:type="dcterms:W3CDTF">2013-01-27T09:14:16Z</dcterms:created>
  <dcterms:modified xsi:type="dcterms:W3CDTF">2026-10-25T11:10:31Z</dcterms:modified>
  <cp:category/>
</cp:coreProperties>
</file>